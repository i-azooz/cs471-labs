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98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9035"/>
            <a:ext cx="49720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Secure File Storage Application Using AES Encryption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2370637"/>
            <a:ext cx="49720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4A4A4A"/>
                </a:solidFill>
              </a:rPr>
              <a:t>A Project Demonstrating Practical Cryptography Implementation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3567215"/>
            <a:ext cx="49720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A4A4A"/>
                </a:solidFill>
              </a:rPr>
              <a:t>Presented by:
 Mohammed Alrayes
 Abdulaziz Fahad Alharbi
 Abdulaziz Saud Alharbi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829300" y="0"/>
            <a:ext cx="3314700" cy="5143500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879" y="1662261"/>
            <a:ext cx="3097513" cy="1818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402547"/>
            <a:ext cx="49720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The Need for Data Protection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2000836"/>
            <a:ext cx="4972050" cy="342466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Data protection is a crucial requirement in modern applications due to the increasing volume of sensitive information being handled.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428625" y="2580875"/>
            <a:ext cx="4972050" cy="342466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The digital landscape faces  increasing risks of unauthorized access and sophisticated cyberattacks , making robust security non-negotiable.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3160914"/>
            <a:ext cx="4972050" cy="342466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The implementation of strong encryption algorithms is essential to ensure both the confidentiality and integrity of user data.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5829300" y="0"/>
            <a:ext cx="3314700" cy="5143500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428625" y="2000836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52CC"/>
                </a:solidFill>
              </a:rPr>
              <a:t>■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580875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52CC"/>
                </a:solidFill>
              </a:rPr>
              <a:t>■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3160914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52CC"/>
                </a:solidFill>
              </a:rPr>
              <a:t>■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1632040"/>
            <a:ext cx="3314700" cy="1879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1006013"/>
            <a:ext cx="6429375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Project Goal: Secure File Storage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357313" y="1775752"/>
            <a:ext cx="6429375" cy="141158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2"/>
          <p:cNvSpPr/>
          <p:nvPr/>
        </p:nvSpPr>
        <p:spPr>
          <a:xfrm>
            <a:off x="1357313" y="1775752"/>
            <a:ext cx="6429375" cy="1228093"/>
          </a:xfrm>
          <a:prstGeom prst="rect">
            <a:avLst/>
          </a:prstGeom>
          <a:noFill/>
          <a:ln/>
        </p:spPr>
        <p:txBody>
          <a:bodyPr wrap="square" lIns="510286" tIns="340233" rIns="510286" bIns="340233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0F2F5"/>
                </a:solidFill>
              </a:rPr>
              <a:t>To enable users to securely upload, store, and retrieve encrypted files while ensuring privacy and preventing unauthorized access.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1357313" y="3544528"/>
            <a:ext cx="3383180" cy="59293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4A4A"/>
                </a:solidFill>
              </a:rPr>
              <a:t>Core Technology: </a:t>
            </a:r>
            <a:r>
              <a:rPr lang="en-US" sz="885" b="1" dirty="0">
                <a:solidFill>
                  <a:srgbClr val="1A1A1A"/>
                </a:solidFill>
              </a:rPr>
              <a:t>Advanced Encryption Standard (AES)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740492" y="3544528"/>
            <a:ext cx="3046195" cy="59293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4A4A"/>
                </a:solidFill>
              </a:rPr>
              <a:t>Implementation: </a:t>
            </a:r>
            <a:r>
              <a:rPr lang="en-US" sz="885" b="1" dirty="0">
                <a:solidFill>
                  <a:srgbClr val="1A1A1A"/>
                </a:solidFill>
              </a:rPr>
              <a:t>Python `cryptography` library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31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4" name="Shape 1"/>
          <p:cNvSpPr/>
          <p:nvPr/>
        </p:nvSpPr>
        <p:spPr>
          <a:xfrm>
            <a:off x="428625" y="812602"/>
            <a:ext cx="8286750" cy="28575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Core Application Functionalities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224790"/>
            <a:ext cx="3986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User Management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462320"/>
            <a:ext cx="29052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Create an account and log in to access secure storage.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2016296"/>
            <a:ext cx="3986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File Handling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2253825"/>
            <a:ext cx="36989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Upload any file type (Images, PDFs, Text documents) from the device.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807801"/>
            <a:ext cx="3986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Security (Encryption)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28625" y="3045330"/>
            <a:ext cx="3072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Encrypt the file using AES and store the cipher text safely.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28625" y="3599306"/>
            <a:ext cx="3986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Retrieval (Decryption)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28625" y="3836836"/>
            <a:ext cx="36740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Retrieve the encrypted file and decrypt it back to the original format.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28625" y="4390811"/>
            <a:ext cx="3986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Interface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28625" y="4628341"/>
            <a:ext cx="37930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Simple Graphical User Interface (GUI) built with Tkinter for ease of use.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700588" y="1098352"/>
            <a:ext cx="4014788" cy="3957638"/>
          </a:xfrm>
          <a:prstGeom prst="rect">
            <a:avLst/>
          </a:prstGeom>
          <a:solidFill>
            <a:srgbClr val="FFFFFF"/>
          </a:solidFill>
          <a:ln w="18288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098352"/>
            <a:ext cx="3600450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" y="605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4" name="Shape 1"/>
          <p:cNvSpPr/>
          <p:nvPr/>
        </p:nvSpPr>
        <p:spPr>
          <a:xfrm>
            <a:off x="428625" y="812602"/>
            <a:ext cx="8286750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User Interface and Authentication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14375" y="1907381"/>
            <a:ext cx="3571875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User Interface (Tkinter)</a:t>
            </a:r>
            <a:endParaRPr lang="en-US" sz="119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334220"/>
            <a:ext cx="16073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2266" y="2319933"/>
            <a:ext cx="3303984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Simple and intuitive graphical user interface (GUI).</a:t>
            </a:r>
            <a:endParaRPr lang="en-US" sz="942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862858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406" y="2848570"/>
            <a:ext cx="3321844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Consists of a login/registration window and a file management window.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391495"/>
            <a:ext cx="89297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0828" y="3377208"/>
            <a:ext cx="3375422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Includes buttons for uploading, encrypting, and decrypting files.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4857750" y="1907381"/>
            <a:ext cx="3571875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User Authentication</a:t>
            </a:r>
            <a:endParaRPr lang="en-US" sz="1193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2334220"/>
            <a:ext cx="125016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89922" y="2319933"/>
            <a:ext cx="3339703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Credentials stored securely in a JSON file (`users.json`).</a:t>
            </a:r>
            <a:endParaRPr lang="en-US" sz="942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862858"/>
            <a:ext cx="178594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43500" y="2848570"/>
            <a:ext cx="3286125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Module handles registration of new users and verification during login.</a:t>
            </a:r>
            <a:endParaRPr lang="en-US" sz="942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391495"/>
            <a:ext cx="178594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43500" y="3377208"/>
            <a:ext cx="3286125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Crucial for preventing unauthorized access to encrypted files.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183965"/>
            <a:ext cx="4143375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Deep Dive: AES Encryption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96542"/>
            <a:ext cx="125016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0797" y="1782254"/>
            <a:ext cx="3911203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Encryption Standard: Advanced Encryption Standard (AES), implemented via the Python `cryptography` library.</a:t>
            </a:r>
            <a:endParaRPr lang="en-US" sz="834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340862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8656" y="2326574"/>
            <a:ext cx="3893344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Fernet Implementation: Uses AES-128 in CBC mode combined with HMAC for both strong confidentiality and integrity protection.</a:t>
            </a:r>
            <a:endParaRPr lang="en-US" sz="834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885182"/>
            <a:ext cx="160734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96516" y="2870895"/>
            <a:ext cx="3875484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Key Management: A single symmetric key is generated and stored in a separate file (`aes.key`) for both encryption and decryption.</a:t>
            </a:r>
            <a:endParaRPr lang="en-US" sz="834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429502"/>
            <a:ext cx="142875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78656" y="3415215"/>
            <a:ext cx="3893344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Storage Output: Encrypted files are saved inside the `encrypted_files` directory with the `.enc` extension.</a:t>
            </a:r>
            <a:endParaRPr lang="en-US" sz="834" dirty="0"/>
          </a:p>
        </p:txBody>
      </p:sp>
      <p:sp>
        <p:nvSpPr>
          <p:cNvPr id="12" name="Shape 5"/>
          <p:cNvSpPr/>
          <p:nvPr/>
        </p:nvSpPr>
        <p:spPr>
          <a:xfrm>
            <a:off x="5000625" y="0"/>
            <a:ext cx="4143375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713468"/>
            <a:ext cx="4143375" cy="1716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" y="1344504"/>
            <a:ext cx="5657850" cy="245449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172200" y="0"/>
            <a:ext cx="2971800" cy="5143500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1"/>
          <p:cNvSpPr/>
          <p:nvPr/>
        </p:nvSpPr>
        <p:spPr>
          <a:xfrm>
            <a:off x="6457950" y="428625"/>
            <a:ext cx="2400300" cy="7250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0F2F5"/>
                </a:solidFill>
              </a:rPr>
              <a:t>File Retrieval and Decryption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6457950" y="1439466"/>
            <a:ext cx="1250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F00"/>
                </a:solidFill>
              </a:rPr>
              <a:t>1.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6690122" y="1439466"/>
            <a:ext cx="2168128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0F2F5"/>
                </a:solidFill>
              </a:rPr>
              <a:t>User selects a .enc encrypted file from storage.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6457950" y="1925241"/>
            <a:ext cx="1250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F00"/>
                </a:solidFill>
              </a:rPr>
              <a:t>2.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6690122" y="1925241"/>
            <a:ext cx="2168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0F2F5"/>
                </a:solidFill>
              </a:rPr>
              <a:t>Application attempts decryption using the stored </a:t>
            </a:r>
            <a:r>
              <a:rPr lang="en-US" sz="834" dirty="0" err="1">
                <a:solidFill>
                  <a:srgbClr val="F0F2F5"/>
                </a:solidFill>
              </a:rPr>
              <a:t>aes.key</a:t>
            </a:r>
            <a:r>
              <a:rPr lang="en-US" sz="834" dirty="0">
                <a:solidFill>
                  <a:srgbClr val="F0F2F5"/>
                </a:solidFill>
              </a:rPr>
              <a:t>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6457950" y="2411016"/>
            <a:ext cx="1250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F00"/>
                </a:solidFill>
              </a:rPr>
              <a:t>3.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6690122" y="2411016"/>
            <a:ext cx="2168128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0F2F5"/>
                </a:solidFill>
              </a:rPr>
              <a:t>If successful, the original file is restored and saved to a user-chosen location.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6457950" y="3353991"/>
            <a:ext cx="2400300" cy="845753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516511"/>
            <a:ext cx="87511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88336" y="3498652"/>
            <a:ext cx="788677" cy="128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Decryption Validation</a:t>
            </a:r>
            <a:endParaRPr lang="en-US" sz="683" dirty="0"/>
          </a:p>
        </p:txBody>
      </p:sp>
      <p:sp>
        <p:nvSpPr>
          <p:cNvPr id="15" name="Text 10"/>
          <p:cNvSpPr/>
          <p:nvPr/>
        </p:nvSpPr>
        <p:spPr>
          <a:xfrm>
            <a:off x="6600825" y="3638652"/>
            <a:ext cx="20262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Decryption fails if the file is corrupted or</a:t>
            </a:r>
            <a:endParaRPr lang="en-US" sz="683" dirty="0"/>
          </a:p>
        </p:txBody>
      </p:sp>
      <p:sp>
        <p:nvSpPr>
          <p:cNvPr id="16" name="Text 11"/>
          <p:cNvSpPr/>
          <p:nvPr/>
        </p:nvSpPr>
        <p:spPr>
          <a:xfrm>
            <a:off x="6600825" y="3778653"/>
            <a:ext cx="1593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the key is invalid, ensuring data</a:t>
            </a:r>
            <a:endParaRPr lang="en-US" sz="683" dirty="0"/>
          </a:p>
        </p:txBody>
      </p:sp>
      <p:sp>
        <p:nvSpPr>
          <p:cNvPr id="17" name="Text 12"/>
          <p:cNvSpPr/>
          <p:nvPr/>
        </p:nvSpPr>
        <p:spPr>
          <a:xfrm>
            <a:off x="6600825" y="3918654"/>
            <a:ext cx="14362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confidentiality and integrity.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9720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Implemented Security Measures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26914"/>
            <a:ext cx="2414588" cy="1772543"/>
          </a:xfrm>
          <a:prstGeom prst="rect">
            <a:avLst/>
          </a:prstGeom>
          <a:solidFill>
            <a:srgbClr val="FFFFFF"/>
          </a:solidFill>
          <a:ln w="18288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2"/>
          <p:cNvSpPr/>
          <p:nvPr/>
        </p:nvSpPr>
        <p:spPr>
          <a:xfrm>
            <a:off x="571500" y="1677637"/>
            <a:ext cx="2128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Strong AES-based Encryption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1868732"/>
            <a:ext cx="21288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Utilizing the Advanced Encryption Standard for robust confidentiality and data integrity.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2986088" y="1026914"/>
            <a:ext cx="2414588" cy="1772543"/>
          </a:xfrm>
          <a:prstGeom prst="rect">
            <a:avLst/>
          </a:prstGeom>
          <a:solidFill>
            <a:srgbClr val="FFFFFF"/>
          </a:solidFill>
          <a:ln w="18288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3128963" y="1600479"/>
            <a:ext cx="2128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Key Separation and Protection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128963" y="1791574"/>
            <a:ext cx="21288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The encryption key is stored in a separate file, preventing direct access to the key alongside the encrypted data.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428625" y="2928045"/>
            <a:ext cx="2414588" cy="1786830"/>
          </a:xfrm>
          <a:prstGeom prst="rect">
            <a:avLst/>
          </a:prstGeom>
          <a:solidFill>
            <a:srgbClr val="FFFFFF"/>
          </a:solidFill>
          <a:ln w="18288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8"/>
          <p:cNvSpPr/>
          <p:nvPr/>
        </p:nvSpPr>
        <p:spPr>
          <a:xfrm>
            <a:off x="571500" y="3515897"/>
            <a:ext cx="2128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Restricted Decryption Access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3706992"/>
            <a:ext cx="21288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Decryption is only possible for users who possess the correct key, enforcing strict access control.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2986088" y="2928045"/>
            <a:ext cx="2414588" cy="1786830"/>
          </a:xfrm>
          <a:prstGeom prst="rect">
            <a:avLst/>
          </a:prstGeom>
          <a:solidFill>
            <a:srgbClr val="FFFFFF"/>
          </a:solidFill>
          <a:ln w="18288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1"/>
          <p:cNvSpPr/>
          <p:nvPr/>
        </p:nvSpPr>
        <p:spPr>
          <a:xfrm>
            <a:off x="3128963" y="3523041"/>
            <a:ext cx="2128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Secure Credential Storage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128963" y="3714136"/>
            <a:ext cx="21288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User authentication details are stored securely in a JSON file, protecting against unauthorized login attempts.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5829300" y="0"/>
            <a:ext cx="3314700" cy="5143500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1816438"/>
            <a:ext cx="3314700" cy="1510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989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2988" y="428625"/>
            <a:ext cx="7058025" cy="4641652"/>
          </a:xfrm>
          <a:prstGeom prst="rect">
            <a:avLst/>
          </a:prstGeom>
          <a:solidFill>
            <a:srgbClr val="000000">
              <a:alpha val="0"/>
            </a:srgbClr>
          </a:solidFill>
          <a:ln w="27432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1"/>
          <p:cNvSpPr/>
          <p:nvPr/>
        </p:nvSpPr>
        <p:spPr>
          <a:xfrm>
            <a:off x="1357313" y="714375"/>
            <a:ext cx="6429375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Development Challenges &amp; Learnings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576983" y="1412677"/>
            <a:ext cx="620970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Understanding Fernet and AES Implementation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576983" y="1650206"/>
            <a:ext cx="58786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Learning how the Fernet library integrates AES-128 in CBC mode with HMAC for integrity required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576983" y="1843088"/>
            <a:ext cx="10019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dedicated effort.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1610916" y="2241352"/>
            <a:ext cx="61757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Managing Encrypted Files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610916" y="2478881"/>
            <a:ext cx="58085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Ensuring all encrypted files were saved correctly, with proper extensions (.enc), and stored in the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610916" y="2671763"/>
            <a:ext cx="12777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designated directory.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1614488" y="3070027"/>
            <a:ext cx="61722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Working with Tkinter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614488" y="3307556"/>
            <a:ext cx="58625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Handling the complexity of multiple windows, managing file dialogs, and ensuring a smooth user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614488" y="3500438"/>
            <a:ext cx="15992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experience within the GUI.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619845" y="3898702"/>
            <a:ext cx="616684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Decryption Validation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619845" y="4136231"/>
            <a:ext cx="55011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Implementing robust checks to handle decryption failures when files were corrupted or the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1619845" y="4329113"/>
            <a:ext cx="23388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encryption key was invalid or changed.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894755"/>
            <a:ext cx="6429375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Project Conclusion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491" y="1735931"/>
            <a:ext cx="214313" cy="214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39491" y="2021681"/>
            <a:ext cx="1607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Strong File Protection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1639491" y="2228850"/>
            <a:ext cx="14139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Successfully integrated robust</a:t>
            </a:r>
            <a:endParaRPr lang="en-US" sz="727" dirty="0"/>
          </a:p>
        </p:txBody>
      </p:sp>
      <p:sp>
        <p:nvSpPr>
          <p:cNvPr id="7" name="Text 3"/>
          <p:cNvSpPr/>
          <p:nvPr/>
        </p:nvSpPr>
        <p:spPr>
          <a:xfrm>
            <a:off x="1639491" y="2384227"/>
            <a:ext cx="15485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AES-based encryption into a real-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1639491" y="2539603"/>
            <a:ext cx="8396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world application.</a:t>
            </a:r>
            <a:endParaRPr lang="en-US" sz="72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2616" y="1735931"/>
            <a:ext cx="267891" cy="214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82616" y="2021681"/>
            <a:ext cx="160734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Functional Authentication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3782616" y="2384227"/>
            <a:ext cx="15109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Developed a fully functional and</a:t>
            </a:r>
            <a:endParaRPr lang="en-US" sz="727" dirty="0"/>
          </a:p>
        </p:txBody>
      </p:sp>
      <p:sp>
        <p:nvSpPr>
          <p:cNvPr id="12" name="Text 7"/>
          <p:cNvSpPr/>
          <p:nvPr/>
        </p:nvSpPr>
        <p:spPr>
          <a:xfrm>
            <a:off x="3782616" y="2539603"/>
            <a:ext cx="1253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secure user authentication</a:t>
            </a:r>
            <a:endParaRPr lang="en-US" sz="727" dirty="0"/>
          </a:p>
        </p:txBody>
      </p:sp>
      <p:sp>
        <p:nvSpPr>
          <p:cNvPr id="13" name="Text 8"/>
          <p:cNvSpPr/>
          <p:nvPr/>
        </p:nvSpPr>
        <p:spPr>
          <a:xfrm>
            <a:off x="3782616" y="2694980"/>
            <a:ext cx="3596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system.</a:t>
            </a:r>
            <a:endParaRPr lang="en-US" sz="72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741" y="1735931"/>
            <a:ext cx="241102" cy="2143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25741" y="2021681"/>
            <a:ext cx="1607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Clean User Interface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5925741" y="2228850"/>
            <a:ext cx="15188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Provided a simple and clean GUI</a:t>
            </a:r>
            <a:endParaRPr lang="en-US" sz="727" dirty="0"/>
          </a:p>
        </p:txBody>
      </p:sp>
      <p:sp>
        <p:nvSpPr>
          <p:cNvPr id="17" name="Text 11"/>
          <p:cNvSpPr/>
          <p:nvPr/>
        </p:nvSpPr>
        <p:spPr>
          <a:xfrm>
            <a:off x="5925741" y="2384227"/>
            <a:ext cx="15712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for an enhanced user experience.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1357313" y="3334345"/>
            <a:ext cx="6429375" cy="914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19" name="Shape 13"/>
          <p:cNvSpPr/>
          <p:nvPr/>
        </p:nvSpPr>
        <p:spPr>
          <a:xfrm>
            <a:off x="1357313" y="3334345"/>
            <a:ext cx="6429375" cy="57150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20" name="Text 14"/>
          <p:cNvSpPr/>
          <p:nvPr/>
        </p:nvSpPr>
        <p:spPr>
          <a:xfrm>
            <a:off x="1357313" y="3334345"/>
            <a:ext cx="6429375" cy="930191"/>
          </a:xfrm>
          <a:prstGeom prst="rect">
            <a:avLst/>
          </a:prstGeom>
          <a:noFill/>
          <a:ln/>
        </p:spPr>
        <p:txBody>
          <a:bodyPr wrap="square" lIns="425196" tIns="255143" rIns="425196" bIns="255143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0F2F5"/>
                </a:solidFill>
              </a:rPr>
              <a:t>The project highlights the critical importance of cryptography in protecting user data and securing digital environments.</a:t>
            </a:r>
            <a:endParaRPr lang="en-US" sz="98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07586" y="1287661"/>
            <a:ext cx="4728800" cy="1219795"/>
          </a:xfrm>
          <a:prstGeom prst="rect">
            <a:avLst/>
          </a:prstGeom>
          <a:solidFill>
            <a:srgbClr val="0052CC">
              <a:alpha val="10000"/>
            </a:srgbClr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4" name="Text 1"/>
          <p:cNvSpPr/>
          <p:nvPr/>
        </p:nvSpPr>
        <p:spPr>
          <a:xfrm>
            <a:off x="2207586" y="1287661"/>
            <a:ext cx="4728828" cy="1219795"/>
          </a:xfrm>
          <a:prstGeom prst="rect">
            <a:avLst/>
          </a:prstGeom>
          <a:noFill/>
          <a:ln/>
        </p:spPr>
        <p:txBody>
          <a:bodyPr wrap="none" lIns="340233" tIns="170053" rIns="340233" bIns="170053" rtlCol="0" anchor="t">
            <a:sp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4974" b="1" dirty="0">
                <a:solidFill>
                  <a:srgbClr val="1A1A1A"/>
                </a:solidFill>
              </a:rPr>
              <a:t>THANK YOU</a:t>
            </a:r>
            <a:endParaRPr lang="en-US" sz="4974" dirty="0"/>
          </a:p>
        </p:txBody>
      </p:sp>
      <p:sp>
        <p:nvSpPr>
          <p:cNvPr id="5" name="Shape 2"/>
          <p:cNvSpPr/>
          <p:nvPr/>
        </p:nvSpPr>
        <p:spPr>
          <a:xfrm>
            <a:off x="3073403" y="2936081"/>
            <a:ext cx="2997194" cy="512564"/>
          </a:xfrm>
          <a:prstGeom prst="rect">
            <a:avLst/>
          </a:prstGeom>
          <a:solidFill>
            <a:srgbClr val="000000">
              <a:alpha val="0"/>
            </a:srgbClr>
          </a:solidFill>
          <a:ln w="27432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Text 3"/>
          <p:cNvSpPr/>
          <p:nvPr/>
        </p:nvSpPr>
        <p:spPr>
          <a:xfrm>
            <a:off x="3073403" y="2936081"/>
            <a:ext cx="2997194" cy="512564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Questions &amp; Discussion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2415899" y="3634383"/>
            <a:ext cx="43122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Mohammed Alrayes | Abdulaziz Fahad Alharbi | Abdulaziz Saud Alharbi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719</Words>
  <Application>Microsoft Office PowerPoint</Application>
  <PresentationFormat>عرض على الشاشة (16:9)</PresentationFormat>
  <Paragraphs>99</Paragraphs>
  <Slides>11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عبدالعزيز الحربي</cp:lastModifiedBy>
  <cp:revision>2</cp:revision>
  <dcterms:created xsi:type="dcterms:W3CDTF">2025-12-08T13:07:29Z</dcterms:created>
  <dcterms:modified xsi:type="dcterms:W3CDTF">2025-12-08T23:29:07Z</dcterms:modified>
</cp:coreProperties>
</file>